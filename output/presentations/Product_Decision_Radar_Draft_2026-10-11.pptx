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4b6b65de5f4145" /><Relationship Type="http://schemas.openxmlformats.org/officeDocument/2006/relationships/extended-properties" Target="/docProps/app.xml" Id="R85160afe829545d8" /><Relationship Type="http://schemas.openxmlformats.org/officeDocument/2006/relationships/officeDocument" Target="/ppt/presentation.xml" Id="Rc866d13462d54c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16b5e691e1448b"/>
  </p:sldMasterIdLst>
  <p:notesMasterIdLst>
    <p:notesMasterId xmlns:r="http://schemas.openxmlformats.org/officeDocument/2006/relationships" r:id="R5a1874763bb14b07"/>
  </p:notesMasterIdLst>
  <p:sldIdLst>
    <p:sldId xmlns:r="http://schemas.openxmlformats.org/officeDocument/2006/relationships" id="256" r:id="R90ca4c69618140a0"/>
    <p:sldId xmlns:r="http://schemas.openxmlformats.org/officeDocument/2006/relationships" id="257" r:id="R1ccddce4f8134f3b"/>
    <p:sldId xmlns:r="http://schemas.openxmlformats.org/officeDocument/2006/relationships" id="258" r:id="Rbf7996d0b8ef43d2"/>
    <p:sldId xmlns:r="http://schemas.openxmlformats.org/officeDocument/2006/relationships" id="259" r:id="R01a66fd3541c4238"/>
    <p:sldId xmlns:r="http://schemas.openxmlformats.org/officeDocument/2006/relationships" id="260" r:id="R27f763fb11014d70"/>
    <p:sldId xmlns:r="http://schemas.openxmlformats.org/officeDocument/2006/relationships" id="261" r:id="R7db49c40521f46b7"/>
    <p:sldId xmlns:r="http://schemas.openxmlformats.org/officeDocument/2006/relationships" id="262" r:id="Rd0d7f083e33a46e3"/>
    <p:sldId xmlns:r="http://schemas.openxmlformats.org/officeDocument/2006/relationships" id="263" r:id="Ref86e41ce0c8465b"/>
    <p:sldId xmlns:r="http://schemas.openxmlformats.org/officeDocument/2006/relationships" id="264" r:id="Rabbfcb0bd10244a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b97bb5cbea4267" /><Relationship Type="http://schemas.openxmlformats.org/officeDocument/2006/relationships/slideMaster" Target="/ppt/slideMasters/slideMaster1.xml" Id="R6b16b5e691e1448b" /><Relationship Type="http://schemas.openxmlformats.org/officeDocument/2006/relationships/notesMaster" Target="/ppt/notesMasters/notesMaster1.xml" Id="R5a1874763bb14b07" /><Relationship Type="http://schemas.openxmlformats.org/officeDocument/2006/relationships/presProps" Target="/ppt/presProps.xml" Id="R66ad028ebf984283" /><Relationship Type="http://schemas.openxmlformats.org/officeDocument/2006/relationships/tableStyles" Target="/ppt/tableStyles.xml" Id="R309cc67aaaee4721" /><Relationship Type="http://schemas.openxmlformats.org/officeDocument/2006/relationships/slide" Target="/ppt/slides/slide1.xml" Id="R90ca4c69618140a0" /><Relationship Type="http://schemas.openxmlformats.org/officeDocument/2006/relationships/slide" Target="/ppt/slides/slide2.xml" Id="R1ccddce4f8134f3b" /><Relationship Type="http://schemas.openxmlformats.org/officeDocument/2006/relationships/slide" Target="/ppt/slides/slide3.xml" Id="Rbf7996d0b8ef43d2" /><Relationship Type="http://schemas.openxmlformats.org/officeDocument/2006/relationships/slide" Target="/ppt/slides/slide4.xml" Id="R01a66fd3541c4238" /><Relationship Type="http://schemas.openxmlformats.org/officeDocument/2006/relationships/slide" Target="/ppt/slides/slide5.xml" Id="R27f763fb11014d70" /><Relationship Type="http://schemas.openxmlformats.org/officeDocument/2006/relationships/slide" Target="/ppt/slides/slide6.xml" Id="R7db49c40521f46b7" /><Relationship Type="http://schemas.openxmlformats.org/officeDocument/2006/relationships/slide" Target="/ppt/slides/slide7.xml" Id="Rd0d7f083e33a46e3" /><Relationship Type="http://schemas.openxmlformats.org/officeDocument/2006/relationships/slide" Target="/ppt/slides/slide8.xml" Id="Ref86e41ce0c8465b" /><Relationship Type="http://schemas.openxmlformats.org/officeDocument/2006/relationships/slide" Target="/ppt/slides/slide9.xml" Id="Rabbfcb0bd10244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83680cc7bf43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c81fe305541e5" /><Relationship Type="http://schemas.openxmlformats.org/officeDocument/2006/relationships/notesMaster" Target="/ppt/notesMasters/notesMaster1.xml" Id="Rf7739b90b74945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54fc1bf55b4451" /><Relationship Type="http://schemas.openxmlformats.org/officeDocument/2006/relationships/notesMaster" Target="/ppt/notesMasters/notesMaster1.xml" Id="Rbae7bbb228454e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ccb83f428294e0a" /><Relationship Type="http://schemas.openxmlformats.org/officeDocument/2006/relationships/notesMaster" Target="/ppt/notesMasters/notesMaster1.xml" Id="R679b37a5e2024c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e648920b54590" /><Relationship Type="http://schemas.openxmlformats.org/officeDocument/2006/relationships/notesMaster" Target="/ppt/notesMasters/notesMaster1.xml" Id="Rf9e4f05c28d343a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5c3c98aadd426e" /><Relationship Type="http://schemas.openxmlformats.org/officeDocument/2006/relationships/notesMaster" Target="/ppt/notesMasters/notesMaster1.xml" Id="Ra9a6ec8e461040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1c22f89b3b64811" /><Relationship Type="http://schemas.openxmlformats.org/officeDocument/2006/relationships/notesMaster" Target="/ppt/notesMasters/notesMaster1.xml" Id="Rc2be16bed6cc4b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21cf85e53c4101" /><Relationship Type="http://schemas.openxmlformats.org/officeDocument/2006/relationships/notesMaster" Target="/ppt/notesMasters/notesMaster1.xml" Id="R2c44e939f7a142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592921aa7a433d" /><Relationship Type="http://schemas.openxmlformats.org/officeDocument/2006/relationships/notesMaster" Target="/ppt/notesMasters/notesMaster1.xml" Id="R9435beb233604b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527850d408248d1" /><Relationship Type="http://schemas.openxmlformats.org/officeDocument/2006/relationships/notesMaster" Target="/ppt/notesMasters/notesMaster1.xml" Id="R2e6fdcacb4704a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this as a working prototype review. All source records are modeled or anonymized; approval and validation are still in progress.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docs/PRODUCT_DECISION_RADAR_PLAN.md; docs/PROJECT_CHECKLIST.md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product-level workflow and that actions are review prompts rather than execution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src/product_radar/app.py; docs/DECISION_RULES.md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period and grain differences. The extracts are not a real-time operational feed.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docs/DATA_AUDIT.md; docs/STAKEHOLDER_REVIEW.md; docs/MARKETING_PRODUCTION_RULES.md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metric names consistently. Margin and quality-loss amounts are estimated, not audited accounting values.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docs/METRIC_RULES.md; docs/DECISION_RULES.md; docs/STAKEHOLDER_REVIEW.md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product counts come from the current processed action file. Inventory balance and cover counts come from the source audit. They should not be presented as audited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data/processed/product_actions.csv; data/processed/product_location_month.csv; docs/DATA_AUDIT.md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examples demonstrate simultaneous signals and review guards. The case outcomes have not been approved by business users.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docs/EXAMPLE_REVIEW.md; data/processed/product_actions.csv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distinct products in the 59-product action set. Recommend retaining thresholds provisionally; the business owner has not approved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docs/RULE_CALIBRATION_REVIEW.md; src/product_radar/decisions/rules.py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dashboard navigation. Explain limitations of campaign attribution, downtime linking, and historical inventory.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src/product_radar/app.py; docs/MARKETING_PRODUCTION_RULES.md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showing where reviewers can record decisions. Do not present the dashboard as approved or ready for automated operational actions.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docs/THRESHOLD_APPROVAL_LOG.md; docs/CASE_REVIEW_LOG.md; docs/PROJECT_CHECKLIST.md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8ef8ba968e4b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20df3d01ae4b4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621a6f0a24e2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258fab9fe8421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07578611fe49d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f5964967a5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99BDC3-C898-4CDD-A131-96FB12A103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609FE87-E5CA-435D-BD33-F42F26AD94F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9264C5-748B-4FEA-90F8-4299C83BB6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01F12C-DD82-4B0C-AF9E-B3425C9CD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4E63864-5959-49BC-9ADB-876C17424C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C60077-EFA3-4A68-98E7-3F2FB8632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AB1F87-14EE-43F7-8E2B-91F5CD69EB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86FDBB-757F-441D-B79F-6B674E1624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6F57D8-5A45-46FA-9B52-BB857EC518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D3676D-7C11-46C3-8956-36C8FD5582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5ad1cf3ffa4db5" /><Relationship Type="http://schemas.openxmlformats.org/officeDocument/2006/relationships/slideLayout" Target="/ppt/slideLayouts/slideLayout1.xml" Id="R73553880aab049ca" /><Relationship Type="http://schemas.openxmlformats.org/officeDocument/2006/relationships/slideLayout" Target="/ppt/slideLayouts/slideLayout2.xml" Id="Rb732c5b5534c4903" /><Relationship Type="http://schemas.openxmlformats.org/officeDocument/2006/relationships/slideLayout" Target="/ppt/slideLayouts/slideLayout3.xml" Id="Re55986eafd1b4b03" /><Relationship Type="http://schemas.openxmlformats.org/officeDocument/2006/relationships/slideLayout" Target="/ppt/slideLayouts/slideLayout4.xml" Id="R2acab2fb7ad448b0" /><Relationship Type="http://schemas.openxmlformats.org/officeDocument/2006/relationships/slideLayout" Target="/ppt/slideLayouts/slideLayout5.xml" Id="R6fa05b11840640e8" /><Relationship Type="http://schemas.openxmlformats.org/officeDocument/2006/relationships/slideLayout" Target="/ppt/slideLayouts/slideLayout6.xml" Id="R0b6b29b9f73243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53880aab049ca"/>
    <p:sldLayoutId xmlns:r="http://schemas.openxmlformats.org/officeDocument/2006/relationships" id="2147483650" r:id="Rb732c5b5534c4903"/>
    <p:sldLayoutId xmlns:r="http://schemas.openxmlformats.org/officeDocument/2006/relationships" id="2147483651" r:id="Re55986eafd1b4b03"/>
    <p:sldLayoutId xmlns:r="http://schemas.openxmlformats.org/officeDocument/2006/relationships" id="2147483652" r:id="R2acab2fb7ad448b0"/>
    <p:sldLayoutId xmlns:r="http://schemas.openxmlformats.org/officeDocument/2006/relationships" id="2147483653" r:id="R6fa05b11840640e8"/>
    <p:sldLayoutId xmlns:r="http://schemas.openxmlformats.org/officeDocument/2006/relationships" id="2147483654" r:id="R0b6b29b9f73243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08497d119b4619" /><Relationship Type="http://schemas.openxmlformats.org/officeDocument/2006/relationships/notesSlide" Target="/ppt/notesSlides/notesSlide1.xml" Id="R040a2696b2bd40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02773b34554a99" /><Relationship Type="http://schemas.openxmlformats.org/officeDocument/2006/relationships/notesSlide" Target="/ppt/notesSlides/notesSlide2.xml" Id="R36957609d48f4c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a48a1ae4c2456e" /><Relationship Type="http://schemas.openxmlformats.org/officeDocument/2006/relationships/notesSlide" Target="/ppt/notesSlides/notesSlide3.xml" Id="R527af54934db40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9c584124754eb7" /><Relationship Type="http://schemas.openxmlformats.org/officeDocument/2006/relationships/notesSlide" Target="/ppt/notesSlides/notesSlide4.xml" Id="R062538e8d6724b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1df89928564be4" /><Relationship Type="http://schemas.openxmlformats.org/officeDocument/2006/relationships/notesSlide" Target="/ppt/notesSlides/notesSlide5.xml" Id="R3eaa561a7d7f457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26ee22605416c" /><Relationship Type="http://schemas.openxmlformats.org/officeDocument/2006/relationships/notesSlide" Target="/ppt/notesSlides/notesSlide6.xml" Id="R4805c4ab8e0041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f27ed47f7b4ff0" /><Relationship Type="http://schemas.openxmlformats.org/officeDocument/2006/relationships/notesSlide" Target="/ppt/notesSlides/notesSlide7.xml" Id="Rc13a166bdd584f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d03b83bfb04b32" /><Relationship Type="http://schemas.openxmlformats.org/officeDocument/2006/relationships/notesSlide" Target="/ppt/notesSlides/notesSlide8.xml" Id="Rbc33a0df34b247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3bb9cceebe4445" /><Relationship Type="http://schemas.openxmlformats.org/officeDocument/2006/relationships/notesSlide" Target="/ppt/notesSlides/notesSlide9.xml" Id="R14450041a4c440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D28C00-6F74-44CB-83F9-0B7B0338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32C7E-984E-4239-A3C9-2E666FD0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0"/>
            <a:ext cx="398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4F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7C2381-5E46-4957-9714-11AFAF37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952500"/>
            <a:ext cx="257175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B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1874E1-7600-427A-BBCE-EC228F53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19250"/>
            <a:ext cx="152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85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7D507-8803-4510-B383-0BE977F0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47900"/>
            <a:ext cx="609600" cy="236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B3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1DE73D-D278-48F3-8B71-D4E25151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9ED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9ED8C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9ED8CA"/>
                </a:solidFill>
                <a:latin typeface="Arial"/>
                <a:ea typeface="Arial"/>
                <a:cs typeface="Arial"/>
              </a:rPr>
              <a:t>PRODUCT DECISION RADAR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6C002-8480-4F7E-8A92-685C15B0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decisions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visible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839F5E-E276-4AD6-9743-C121B1FD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D7EB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D7EBE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7EBE8"/>
                </a:solidFill>
                <a:latin typeface="Arial"/>
                <a:ea typeface="Arial"/>
                <a:cs typeface="Arial"/>
              </a:rPr>
              <a:t>Prototype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16882-69EC-4D69-A62C-E3938062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676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C1DE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C1DED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1DEDA"/>
                </a:solidFill>
                <a:latin typeface="Arial"/>
                <a:ea typeface="Arial"/>
                <a:cs typeface="Arial"/>
              </a:rPr>
              <a:t>Sales · inventory · returns · quality · marketing · production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D8DE4C-F95B-43A7-A5CB-610198CB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542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E858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6DB31-E931-46AA-A9C5-1FE2355C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C1DED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C1DE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1DEDA"/>
                </a:solidFill>
                <a:latin typeface="Arial"/>
                <a:ea typeface="Arial"/>
                <a:cs typeface="Arial"/>
              </a:rPr>
              <a:t>11 October 2026  |  Draft for stakeholder review</a:t>
            </a:r>
          </a:p>
        </p:txBody>
      </p:sp>
    </p:spTree>
    <p:extLst>
      <p:ext uri="{BB962C8B-B14F-4D97-AF65-F5344CB8AC3E}">
        <p14:creationId xmlns:p14="http://schemas.microsoft.com/office/powerpoint/2010/main" val="20822212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1D597-DBAE-4C53-AEFC-B3D646F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F042B1-346A-4CA5-B1C2-7A37F9C9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1519E-1E78-436E-8CBC-96096EA8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An explainable review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C64AE-6B1D-494D-96B7-1C9F0BAD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F3B90C-EB03-48D2-AB2F-813E592A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6778BC-0117-4EBC-B12A-D00EBC20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B49FA5-8A9B-4DEF-89F8-8F33FFC5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The dashboard puts a suggested action beside the evidence that triggered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2C98D-E170-4F9A-8652-1A27CDD20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9BB87-0BC3-46A8-938A-26B5CB50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289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01  Prioritize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FC2D39-EA32-43C3-A2A6-2CCEA2E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One lead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7139B5-CD0E-4648-8887-C4F32D1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2890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Sort products for attention while retaining every concurrent signal.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AAE1EB-EE84-47CD-B801-7ED08C40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0534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8D7E88-E059-448A-B8EB-1BD7E652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D9A28C-895A-4FCE-9883-1D860AD6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02  Inspect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F578C-2C66-492B-9C21-C225B6F3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623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683A"/>
                </a:solidFill>
                <a:latin typeface="Arial"/>
                <a:ea typeface="Arial"/>
                <a:cs typeface="Arial"/>
              </a:rPr>
              <a:t>Evidence and trends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8341B-1F08-4FB6-A586-1FDC2DA27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Open the product view to trace periods, locations, margins, returns, and quality.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3B56E-0D98-43C5-A81B-AE132940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0534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AC010B-D550-45B3-80E1-2B895981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9D66C8-787E-4FCE-BD06-278F3D59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333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03  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203668-5DB6-4EE6-B05A-2CC91B5B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9580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54ADF0-23E8-4DF9-807A-3166806B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95800"/>
            <a:ext cx="5219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Use the evidence to verify the situation before commercial or supply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CB8490-E9B4-4C0F-8EF4-E9B623CD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05346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8805CB-21C4-4D8B-96D4-10298B09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72125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The system does not place orders, move stock, change prices, or launch campaigns.</a:t>
            </a:r>
          </a:p>
        </p:txBody>
      </p:sp>
    </p:spTree>
    <p:extLst>
      <p:ext uri="{BB962C8B-B14F-4D97-AF65-F5344CB8AC3E}">
        <p14:creationId xmlns:p14="http://schemas.microsoft.com/office/powerpoint/2010/main" val="5035583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48B3B7-BC6A-41D1-A148-EC06F0DD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2CFB90-9ED1-456F-B32A-E92C2487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DATA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513319-74A5-4EB0-A99B-4BDDB9D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Evidence comes from different periods and grains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F36CB-0ED3-4F3A-8E2C-546EC9AC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20CA7-DC63-4A9D-8A92-54278420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872BD-82A4-4F64-A7B2-0BD736B5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FDBDE-45A2-4F28-9F80-FC23C6A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Sales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E8FB7-67E5-4436-A150-EA2801D4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7172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D54BD-D508-4FE8-8307-D3CB5E42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Jul–Sep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A9507-253A-43F4-A107-542855B4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Transactions aggregated by product and month.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Returns are counted as returned rows, not units.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B183BD-E86F-4195-87EB-9D1BE70B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2343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B7AD4-1F43-48EF-BFB0-3C3B4C1A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Inventory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EA39E-5C03-4646-B755-C71311FB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7172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81E244-8985-4216-9803-C3A1F69D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Sep 2026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FD47C-24C5-4A99-A755-21A49995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432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× location balances.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Finished goods scope: LOC001–LOC003.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A1B7C-8B6A-40E0-B44A-4CEB294F5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95800"/>
            <a:ext cx="2343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8F5045-BCEF-4AFE-9432-AA97E1AF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43259D-CCB3-4F98-A27E-6E5CEB23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7172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A1387-C4E6-414F-AC2A-2979FAEB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81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Apr–Sep 2026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3F886-46EF-4EC9-A653-EF7A98DC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Inspected and rejected units by product-period.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No transaction-level return link.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2ABE9C-5211-4927-A06C-30C674BF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2343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8870D-E2AF-4B28-BCE4-2A7AA2B3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952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Marketing &amp; production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2C4B6D-96AB-41B4-B4C6-6FB046F2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0162DE-934A-44B1-BB26-EF8F56816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0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Source-specific windows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CD5709-5311-43BB-B4F8-21B5673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43250"/>
            <a:ext cx="2362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Campaign attribution is directional.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Downtime is plant-level, not product-linked.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A9BAA5-AE43-4696-9BEA-43763D00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95800"/>
            <a:ext cx="2343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B812C4-70A8-47A2-A259-DDEA5D41D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1071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No live inventory feed is present. Head Office (LOC004) and Production Hub (LOC005) remain outside the finished-goods scope until confirmed.</a:t>
            </a:r>
          </a:p>
        </p:txBody>
      </p:sp>
    </p:spTree>
    <p:extLst>
      <p:ext uri="{BB962C8B-B14F-4D97-AF65-F5344CB8AC3E}">
        <p14:creationId xmlns:p14="http://schemas.microsoft.com/office/powerpoint/2010/main" val="1627319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413ECB-5FFE-4CF8-860D-AF71EE38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7E896E-D728-4330-B09D-766A3992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16623-661B-484C-9C78-DA1190CA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Rules favor clear, reviewable signals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49F10-33DB-4194-8320-9BD57AAE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FFC43-C59D-4F0C-8184-DA7FB8F8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FA22D-7F42-47AC-A646-9F90D0649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031C1A-E303-46AE-9A76-DD3E4103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Estimated margin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228FB-EED7-4EE2-842A-482BA335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Estimated gross profit ÷ source net sales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AF6E8-A830-46FE-B399-A638260C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Negative economics are separated from the low-margin guard.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E3D487-B029-4749-A92B-9B5040EB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2890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806B9-5AFB-44CB-AA34-FB49B0A7C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Returns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168C63-209C-46A6-B01C-701B6EE6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765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Returned sales rows ÷ sales 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F598A-9511-4122-942A-E5C0426C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257550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Reasons are descriptive; a return is not automatically a defect.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85687-3B9F-4987-B838-8002D9EE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39667-3A78-4689-9224-9FDC67ED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433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56C6D6-CE50-4DCD-AF00-76A528A2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433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Rejected units ÷ inspected units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79C58-B50F-49F2-B3E1-E3B41149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24350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Show sample size, leading cause, stage, and unexplained rejects.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10A529-A607-4EAC-B835-CC6A07EB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944D40-AB70-4674-BF2D-623EE8F6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Inventory cover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9511D3-9114-4E3A-A20A-753EA498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101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Source cover days plus local stock / recent sales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E9281-EA96-4AC9-B2CE-3E576B7B4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391150"/>
            <a:ext cx="785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Historical stockout and excess flags need count and denominator checks.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3FA34-2108-4F3A-9A36-B700C474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2930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541718-945D-41E5-B17C-01FEC4B3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53150"/>
            <a:ext cx="10334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683A"/>
                </a:solidFill>
                <a:latin typeface="Arial"/>
                <a:ea typeface="Arial"/>
                <a:cs typeface="Arial"/>
              </a:rPr>
              <a:t>Refunds remain separate from source net sales until Finance defines recognition treatment.</a:t>
            </a:r>
          </a:p>
        </p:txBody>
      </p:sp>
    </p:spTree>
    <p:extLst>
      <p:ext uri="{BB962C8B-B14F-4D97-AF65-F5344CB8AC3E}">
        <p14:creationId xmlns:p14="http://schemas.microsoft.com/office/powerpoint/2010/main" val="10074576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B396AA-CF60-4687-8CBA-AF708FA77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C4784-24D6-47E4-BB26-B53841015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PORTFOLIO READOUT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BFE73-85EC-4864-B9DD-EF495FC6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The prototype surfaces review volume, not confirmed outcomes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9C464-CE28-4A61-B931-D8FDD412A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FE765-51A0-4738-8DC3-9B4C5A4B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7CC0A-6A0C-41CF-B5D9-E0728BED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8B58A3-5CD2-42B2-8B63-B714FBF7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DFE5B-CA59-44FE-AAEC-3D06C380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567DDB-5A19-4B27-BA23-6583A570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27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59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04C90B-1AFD-456F-A67E-E826C759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4F688-3C41-4922-96B6-AC885C8E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One action row per 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F4079E-0CBF-48C4-BF52-96353E3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0F2F3-AE40-40E8-9546-B5055B7D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240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6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A2D534-6D41-47AB-AFB9-9ED68BB98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764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27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C7683A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7CFC2-61F8-4577-BF4D-876A9062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5270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Need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A86D0-1129-466E-9805-220A23D4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At least one active signal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0C9B1-EFCD-4D44-B69A-9CB28D398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240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1A704A-EA1B-4E5A-8958-4C6F3687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240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AF199-6E32-4B2F-8F87-FE280AF0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27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DF2C97-470D-4D81-BCE8-01E700B1B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Availability flags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943BF9-979B-4B4B-8275-9A2E6FC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Historical September evidence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0AEC7-54E9-4282-B48C-A9771C55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2381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74EDA9-5EDA-4F12-AF2D-55ADB01F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924050"/>
            <a:ext cx="47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7FD617-9A6A-48C5-9E84-2BD9DE9F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76450"/>
            <a:ext cx="2047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l">
              <a:defRPr sz="27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96A1E6-DB12-4345-9BE7-A1401538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047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Possible excess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44D45C-66C8-404A-A56C-77261B2B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00350"/>
            <a:ext cx="2047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Provisional review rule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67A74-9BBD-4638-A2ED-5BB3CE74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147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Data checks that shape interpretation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E66B46-C09D-47AF-B09F-7917947D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147 inventory rows fail the balance equation; 141 are at LOC003. They remain verification flags, not buy or transfer quantities.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F7C198-C029-4695-BBCE-1B987A2E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5105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939 rows exceed 365 cover days, but only 23 are in the latest September snapshot. High cover alone does not trigger a markdown.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9EFE45-397F-41B2-BA2A-1AF5402B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43375"/>
            <a:ext cx="9525" cy="1028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A45E1C-21C9-4123-9B1B-2D410F9B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673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683A"/>
                </a:solidFill>
                <a:latin typeface="Arial"/>
                <a:ea typeface="Arial"/>
                <a:cs typeface="Arial"/>
              </a:rPr>
              <a:t>Modeled/anonymized records. These counts describe the current extract, not company performance.</a:t>
            </a:r>
          </a:p>
        </p:txBody>
      </p:sp>
    </p:spTree>
    <p:extLst>
      <p:ext uri="{BB962C8B-B14F-4D97-AF65-F5344CB8AC3E}">
        <p14:creationId xmlns:p14="http://schemas.microsoft.com/office/powerpoint/2010/main" val="11124321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3C8946-4550-4F3F-A2E0-AE891748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D4DF6-F307-4A15-9B91-EEE5D304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CASE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32DD45-A307-44A0-9FCE-FFE8D808C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Six cases make the rules concrete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41B87-96DE-411A-B132-52F8890B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097810-B0AF-4182-9A22-17769BF4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30F22-593B-4FE2-B8A4-19C3FBCB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475398-B304-486A-B1AE-99D240F8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19275"/>
            <a:ext cx="1047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PRODUCT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888A-A78E-41B6-BE43-BD72B5DB7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1927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EVIDENCE SUMMARY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DCB898-3F1E-4C96-871E-B3BF8528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19275"/>
            <a:ext cx="381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CURRENT REVIEW 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8970A-1C18-40A8-81D3-EA03FAA1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76325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6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D902C-60FC-406F-916E-A942DD32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145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P002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A8250-5FE4-42A0-B73F-08A8155B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2764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Stockout + movement mismatch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B34528-B4C1-4957-9D36-6CD7ABA58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764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Verify stock and movements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E3BE62-F0F7-460C-B690-300EE5D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BF630-4067-4FF8-B632-BE66D230B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P048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1E9D3-E665-4416-89AD-B0EE6EB4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670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Stockout + 0.8% estimated margin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864403-331B-45EA-9027-86F659B6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670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Verify records and margin before 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BC083-1E57-40D6-AC5D-A2D77CCB8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9EC128-32E0-4BD8-8235-37EE14FC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P023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2C2437-D9D4-4FA3-AD13-33A4ECE0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457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10,343 units; seasonal, high cover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5AB3ED-726B-49E2-B73E-382CBBF0B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575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Review seasonality and stock counts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BE3AA3-AB74-4FC1-8DF9-49A6ACDC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BCAF7D-64A0-438E-BF24-98608E49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8622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P013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C9DFE-710C-424C-8103-B26C8A49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481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−0.8% margin; 2 of 3 months negative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A0494-A913-4018-B5AC-E0099B8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481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Review cost and price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04F9F2-F763-4914-A183-014480E3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58374-8B45-4671-AAC3-691FB7E5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7677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P030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8FBFCC-DE86-4F62-AEFF-AE6EA960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386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10.7% returned rows; 2 quality-related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C5444-1336-47FF-9FE5-B65FCDCA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63867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Review fit and return reasons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AC5C9D-5EB1-4401-8FBC-4B43FB49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DA03B-85E3-4EC9-8D78-853B01D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67325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P052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CE5C68-3499-499D-A640-E1259742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292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3.59% rejection; 26 unexplained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D0967E-792A-41C3-8C91-E3E121D4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229225"/>
            <a:ext cx="4152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Investigate quality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B3CE3-D660-4AE1-8109-89970EE1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05475"/>
            <a:ext cx="1076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22C58F-B233-4573-8E2D-CAFACE93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1071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C768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683A"/>
                </a:solidFill>
                <a:latin typeface="Arial"/>
                <a:ea typeface="Arial"/>
                <a:cs typeface="Arial"/>
              </a:rPr>
              <a:t>All six remain desk-review examples. Verify current stock, costs, and season context before action.</a:t>
            </a:r>
          </a:p>
        </p:txBody>
      </p:sp>
    </p:spTree>
    <p:extLst>
      <p:ext uri="{BB962C8B-B14F-4D97-AF65-F5344CB8AC3E}">
        <p14:creationId xmlns:p14="http://schemas.microsoft.com/office/powerpoint/2010/main" val="13277435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B302D2-8EAE-4309-A977-E740973E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ECFE9-4757-48B5-A14C-8162562A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CALIBRATION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2666-390A-4844-976A-78488EF8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Current thresholds are a reasonable interim position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AE3DF5-E7A6-4E89-868E-B3B6C947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3FD40-5493-4051-810E-CFD852B7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877DC3-D0B6-4D9C-BB62-E7F0246A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EBC10-97E7-4DEA-949C-00B2D553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3857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CURRENT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78D62-544B-4F69-A150-AA553175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811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CURRENT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EF631-2D4F-4898-A488-C210C0A8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811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SENSITIVITY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DD6187-3C57-4763-8CB7-17DB17C36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744200" cy="19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764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C920D4-52C7-420B-963D-E6A9C469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Margin &lt;5%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DB7991-4A4B-4432-96F3-F9E4BC06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3 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CA984-369D-476A-BE05-F62E1398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86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8%: 6  ·  10%: 12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63D36-2FEA-4691-ACCF-92858F53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4F918-97D6-45AC-91BD-280EFE0F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Returns &gt;2× baseline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04975-CAFA-41C0-BC4F-F7884B12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956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1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941A8-A2E6-46C9-BC04-06F55F495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8956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1.5×: 2  ·  2.5×: 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ED52C-74B5-46F3-9394-4979E24A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F0838-444A-48C8-BE58-C0DBA235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Quality &gt;1.25× baseline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5A38A0-6AC7-4140-ADEC-FF00136B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3 products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BC8699-CD7C-4369-8F00-97762128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05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1×: 28–29  ·  1.5×: 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299A3B-0459-456C-9A2F-D31C3F35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9CE89E-4AC2-40B1-9357-5EA8FB33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Excess: &gt;120 days + 3× stock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5F7199-95A6-47C7-9031-F6B4B14BD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148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17 products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A9B32C-92CC-4F13-9C64-59BE0D3B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2×: 20  ·  4×: 15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E0F56-DAF1-4305-A2EB-65711FE8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C34E83-85BD-4F90-BD35-A242B90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Low cover ≤14 days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CD2AE8-C21A-4757-9984-245CCC18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2440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31 products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32F929-866E-4FE0-8D10-6DE833C1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7 days: 25  ·  21 days: 34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2641EE-899C-4068-B5FE-C611EDFA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B65FF5-DD7A-4D5C-8DDB-EEA013A5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Recommendation: retain current provisional settings. Sensitivity is not proof that a threshold improves business outcomes.</a:t>
            </a:r>
          </a:p>
        </p:txBody>
      </p:sp>
    </p:spTree>
    <p:extLst>
      <p:ext uri="{BB962C8B-B14F-4D97-AF65-F5344CB8AC3E}">
        <p14:creationId xmlns:p14="http://schemas.microsoft.com/office/powerpoint/2010/main" val="2976550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77694-EF3F-449B-8C5E-8F63FB5AE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7817E-41FB-4D1D-BAC3-2D9F461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PROTOTYPE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90CAAB-DCB7-42C2-98FE-FE700717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The dashboard links each action to its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5DB56-CADD-43B1-9C09-4274143B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35142-9EC7-43EF-9CD5-C1AB983C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3547A0-8007-4D46-9BBF-CD9B2A5DC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5DF68-5430-45F9-9EFF-D46AD8B9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Priorities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0628C-07AA-4BEB-ADC7-D5435D24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8669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Sorted actions, product filters, portfolio signal counts, and CSV export.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BCB140-18D8-47A6-AC11-CF9A0E2F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0E88-A8CD-4EE7-9285-1FEBF604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Product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5BA15-5F72-485B-B752-DB1F6B18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336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Sales and margin trends, location stock, returns, and quality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A5DEA-667C-4D23-821F-91ACB85F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23F72-4F3A-4B0B-931D-353D367C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Marketing &amp; production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82FC7-10D1-4461-A873-D01DF00D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6004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Campaign context, production orders, print quality, and plant downtime.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5501B-28D1-4B33-A140-FA5859BD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D42F1-A7D1-4895-91BE-A57849B1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672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Rule calibration + case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6D1F5-9CD5-414A-A797-8957AA08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4672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Threshold sensitivity and six product cases prepared for stakeholder review.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706AA3-2380-43FB-A7C7-5935FD31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0FB19E-1FD4-4AA0-8C14-21799731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744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9EAC3D-591B-4B8E-9DC8-502D6597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303A"/>
                </a:solidFill>
                <a:latin typeface="Arial"/>
                <a:ea typeface="Arial"/>
                <a:cs typeface="Arial"/>
              </a:rPr>
              <a:t>Marketing attribution is directional; factory downtime is not linked to individual products.</a:t>
            </a:r>
          </a:p>
        </p:txBody>
      </p:sp>
    </p:spTree>
    <p:extLst>
      <p:ext uri="{BB962C8B-B14F-4D97-AF65-F5344CB8AC3E}">
        <p14:creationId xmlns:p14="http://schemas.microsoft.com/office/powerpoint/2010/main" val="44926528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6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34836C-B0A7-47A3-9FB6-F8AC17A6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4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3390C6-2E2F-4CDC-9CB9-C5669114C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OPEN DECISIONS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1F17-6EA2-41D6-82D5-D9BDD928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Business review is the gate before operational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43BBF-A1F2-4D6C-B360-F8546EB2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76375"/>
            <a:ext cx="10858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4ACE15-A91B-45A8-8B2D-AA02E9D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57950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825" b="0">
                <a:solidFill>
                  <a:srgbClr val="59717A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717A"/>
                </a:solidFill>
                <a:latin typeface="Arial"/>
                <a:ea typeface="Arial"/>
                <a:cs typeface="Arial"/>
              </a:rPr>
              <a:t>PRODUCT DECISION RADAR  ·  DRAFT  ·  11 OCT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39254-9F74-4976-8AEB-C9C25186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900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4A3BDD-CFB7-4999-9310-D1F3AE4B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2EB019-432A-43C8-8186-C6AE96FC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48C401-5C2B-4B2E-A817-3EC6B1AF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Thresholds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B4E65-6728-45F1-AEF9-1BCB1A1D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66900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Approve current settings or record alternatives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55F426-E4A3-4B0B-969A-846BDF2C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71725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4B8AE4-5C6B-414D-9D26-DB673B8CC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B04EBF-7F90-4EF1-97EB-8E2544F5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7879C6-AB7B-4848-9BE8-56C850DF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5747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Six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150ED5-BDDA-41D4-8388-07FA2718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657475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Mark Correct, Needs change, or Evidence insufficient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3D1BD-3A35-419F-9D63-5FFC481F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92987-B79C-479A-B1A8-26C795090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337A8-5EC1-4A64-BB52-098FC26A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95675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162FD9-ED99-40E5-B595-84219970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Data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7EE26-7AD3-4754-913C-0C87CD17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48050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Confirm refunds, location scope, and inventory movement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C6E24B-1A50-45A0-87E5-91C16D60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52875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359ECC-1451-4681-9F8C-1DF7F682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57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3812E-2287-4286-89DF-A84C6B66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125" b="1">
                <a:solidFill>
                  <a:srgbClr val="17645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645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A87E5-FBFF-492A-9270-421C1D2B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Readiness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24E38D-201A-455A-BD56-12D9BCB9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238625"/>
            <a:ext cx="723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730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303A"/>
                </a:solidFill>
                <a:latin typeface="Arial"/>
                <a:ea typeface="Arial"/>
                <a:cs typeface="Arial"/>
              </a:rPr>
              <a:t>Review live-data quality and define evidence sufficiency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6AAC89-BB3A-4214-AFC0-E18A937D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43450"/>
            <a:ext cx="100774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77C3DE-C8EF-40BB-B914-3CC109D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442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E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078CFE-D7EC-40C0-BD1C-02798E0E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0287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23A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23A4A"/>
                </a:solidFill>
                <a:latin typeface="Arial"/>
                <a:ea typeface="Arial"/>
                <a:cs typeface="Arial"/>
              </a:rPr>
              <a:t>Current status: prototype and quantitative desk review complete. Threshold approval and stakeholder case review are pending.</a:t>
            </a:r>
          </a:p>
        </p:txBody>
      </p:sp>
    </p:spTree>
    <p:extLst>
      <p:ext uri="{BB962C8B-B14F-4D97-AF65-F5344CB8AC3E}">
        <p14:creationId xmlns:p14="http://schemas.microsoft.com/office/powerpoint/2010/main" val="20197744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2026-10-11T17:27:50.2120000Z</dcterms:created>
  <dcterms:modified xsi:type="dcterms:W3CDTF">2026-10-11T17:27:50.2120000Z</dcterms:modified>
</coreProperties>
</file>